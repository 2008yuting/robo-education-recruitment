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74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机器人的结构与</a:t>
            </a:r>
            <a:r>
              <a:rPr lang="zh-CN" altLang="en-US"/>
              <a:t>组成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7364730" y="3670300"/>
            <a:ext cx="4401820" cy="1103630"/>
          </a:xfrm>
        </p:spPr>
        <p:txBody>
          <a:bodyPr/>
          <a:p>
            <a:r>
              <a:rPr lang="zh-CN" altLang="en-US"/>
              <a:t>从零开始理解</a:t>
            </a:r>
            <a:r>
              <a:rPr lang="zh-CN" altLang="en-US"/>
              <a:t>机器人</a:t>
            </a:r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 flipV="1">
            <a:off x="6284595" y="3927475"/>
            <a:ext cx="1576705" cy="19685"/>
          </a:xfrm>
          <a:prstGeom prst="line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话不多说，</a:t>
            </a:r>
            <a:r>
              <a:rPr lang="zh-CN" altLang="en-US"/>
              <a:t>直接上图</a:t>
            </a:r>
            <a:endParaRPr lang="zh-CN" altLang="en-US"/>
          </a:p>
        </p:txBody>
      </p:sp>
      <p:pic>
        <p:nvPicPr>
          <p:cNvPr id="4" name="内容占位符 3" descr="_cgi-bin_mmwebwx-bin_webwxgetmsgimg__&amp;MsgID=7940380981771193133&amp;skey=@crypt_f418fc45_000996a99034d7ff8eff2ea5b4aeb770&amp;mmweb_appid=wx_webfilehelper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06870" y="0"/>
            <a:ext cx="5485130" cy="69627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10895" y="1662430"/>
            <a:ext cx="40640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五大系统协同</a:t>
            </a:r>
            <a:r>
              <a:rPr lang="en-US" altLang="zh-CN"/>
              <a:t>: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大脑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感知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运动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能源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5.</a:t>
            </a:r>
            <a:r>
              <a:rPr lang="zh-CN" altLang="en-US"/>
              <a:t>控制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大脑：</a:t>
            </a:r>
            <a:r>
              <a:rPr lang="en-US" altLang="zh-CN"/>
              <a:t>AI</a:t>
            </a:r>
            <a:r>
              <a:rPr lang="zh-CN" altLang="en-US"/>
              <a:t>与</a:t>
            </a:r>
            <a:r>
              <a:rPr lang="zh-CN" altLang="en-US"/>
              <a:t>决策系统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398905"/>
            <a:ext cx="10968990" cy="54229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核心组成：多模态大</a:t>
            </a:r>
            <a:r>
              <a:rPr lang="zh-CN" altLang="en-US"/>
              <a:t>模型、环境理解与三维建模、任务规划与决策、运动控制与学习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08330" y="2038985"/>
            <a:ext cx="6029960" cy="4933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</a:rPr>
              <a:t>核心能力：感知理解、推理决策、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uFillTx/>
              </a:rPr>
              <a:t>自主学习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uFillTx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34590" y="3060700"/>
            <a:ext cx="6902450" cy="557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思考该怎么伸手才能稳稳地拿起来，而不把它</a:t>
            </a:r>
            <a:r>
              <a:rPr lang="zh-CN" altLang="en-US"/>
              <a:t>捏碎</a:t>
            </a:r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2017395" y="3225800"/>
            <a:ext cx="31432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7626985" y="3255645"/>
            <a:ext cx="324485" cy="101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-635" y="3022600"/>
            <a:ext cx="2220595" cy="242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要拿起前面的</a:t>
            </a:r>
            <a:r>
              <a:rPr lang="zh-CN" altLang="en-US"/>
              <a:t>杯子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244205" y="3060065"/>
            <a:ext cx="4013835" cy="5581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自主学习，</a:t>
            </a:r>
            <a:r>
              <a:rPr lang="zh-CN" altLang="en-US"/>
              <a:t>推理决策</a:t>
            </a:r>
            <a:endParaRPr lang="zh-CN" altLang="en-US"/>
          </a:p>
        </p:txBody>
      </p:sp>
      <p:pic>
        <p:nvPicPr>
          <p:cNvPr id="15" name="图片 14" descr="_cgi-bin_mmwebwx-bin_webwxgetmsgimg__&amp;MsgID=602988530907069334&amp;skey=@crypt_f418fc45_73cc3bf4cae8b15df092705583a97da4&amp;mmweb_appid=wx_webfilehelp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925" y="3435985"/>
            <a:ext cx="2698115" cy="34220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感知：</a:t>
            </a:r>
            <a:r>
              <a:rPr lang="zh-CN" altLang="en-US"/>
              <a:t>环境感知系统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视觉系统：多目摄像头，深度相机，</a:t>
            </a:r>
            <a:r>
              <a:rPr lang="zh-CN" altLang="en-US"/>
              <a:t>双目立体视觉</a:t>
            </a:r>
            <a:endParaRPr lang="zh-CN" altLang="en-US"/>
          </a:p>
          <a:p>
            <a:r>
              <a:rPr lang="zh-CN" altLang="en-US"/>
              <a:t>听觉系统：麦克风阵列、</a:t>
            </a:r>
            <a:r>
              <a:rPr lang="zh-CN" altLang="en-US"/>
              <a:t>声源定位与识别</a:t>
            </a:r>
            <a:endParaRPr lang="zh-CN" altLang="en-US"/>
          </a:p>
          <a:p>
            <a:r>
              <a:rPr lang="zh-CN" altLang="en-US"/>
              <a:t>惯导与定位</a:t>
            </a:r>
            <a:endParaRPr lang="zh-CN" altLang="en-US"/>
          </a:p>
          <a:p>
            <a:r>
              <a:rPr lang="zh-CN" altLang="en-US"/>
              <a:t>核心能力：实现环境感知、物体识别和空间定位，让机器人</a:t>
            </a:r>
            <a:r>
              <a:rPr lang="en-US" altLang="zh-CN"/>
              <a:t>“</a:t>
            </a:r>
            <a:r>
              <a:rPr lang="zh-CN" altLang="en-US"/>
              <a:t>看懂</a:t>
            </a:r>
            <a:r>
              <a:rPr lang="en-US" altLang="zh-CN"/>
              <a:t>”</a:t>
            </a:r>
            <a:r>
              <a:rPr lang="zh-CN" altLang="en-US"/>
              <a:t>和</a:t>
            </a:r>
            <a:r>
              <a:rPr lang="en-US" altLang="zh-CN"/>
              <a:t>“</a:t>
            </a:r>
            <a:r>
              <a:rPr lang="zh-CN" altLang="en-US"/>
              <a:t>听懂</a:t>
            </a:r>
            <a:r>
              <a:rPr lang="en-US" altLang="zh-CN"/>
              <a:t>”</a:t>
            </a:r>
            <a:r>
              <a:rPr lang="zh-CN" altLang="en-US"/>
              <a:t>世界</a:t>
            </a:r>
            <a:endParaRPr lang="zh-CN" altLang="en-US"/>
          </a:p>
        </p:txBody>
      </p:sp>
      <p:pic>
        <p:nvPicPr>
          <p:cNvPr id="5" name="图片 4" descr="感知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0965" y="3429000"/>
            <a:ext cx="3050540" cy="3429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运动：</a:t>
            </a:r>
            <a:r>
              <a:rPr lang="zh-CN" altLang="en-US"/>
              <a:t>执行与驱动系统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核心硬件：高性能关节模组、精密减速器、无框力矩电机，以及力矩/位置/速度传感器和高精度编码器。核心能力要求高精度、大扭矩、高响应。</a:t>
            </a:r>
            <a:endParaRPr lang="zh-CN" altLang="en-US"/>
          </a:p>
          <a:p>
            <a:r>
              <a:rPr lang="zh-CN" altLang="en-US"/>
              <a:t>全身关节：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</a:t>
            </a:r>
            <a:r>
              <a:rPr lang="zh-CN" altLang="en-US"/>
              <a:t>上肢：肩部（3自由度）、肘部（1自由度）、腕部（2自由度）。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</a:t>
            </a:r>
            <a:r>
              <a:rPr lang="zh-CN" altLang="en-US"/>
              <a:t>手部：灵巧手（多指协同控制、触觉传感器阵列、精细操作能力）。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</a:t>
            </a:r>
            <a:r>
              <a:rPr lang="zh-CN" altLang="en-US"/>
              <a:t>下肢：髋部（3自由度）、膝部（1自由度）、踝部（2自由度，用于平衡与姿态调整）。</a:t>
            </a:r>
            <a:endParaRPr lang="zh-CN" altLang="en-US"/>
          </a:p>
        </p:txBody>
      </p:sp>
      <p:pic>
        <p:nvPicPr>
          <p:cNvPr id="4" name="图片 3" descr="运动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6355" y="4210685"/>
            <a:ext cx="2734310" cy="27076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能源：</a:t>
            </a:r>
            <a:r>
              <a:rPr lang="zh-CN" altLang="en-US"/>
              <a:t>供热与热管理系统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核心组成：高能量密度电池、BMS电池管理系统、能量管理与分配、热管理与散热系统。</a:t>
            </a:r>
            <a:endParaRPr lang="zh-CN" altLang="en-US"/>
          </a:p>
          <a:p>
            <a:r>
              <a:rPr lang="zh-CN" altLang="en-US"/>
              <a:t>核心能力：保障机器人持久续航、稳定供电，并做到安全高效。</a:t>
            </a:r>
            <a:endParaRPr lang="zh-CN" altLang="en-US"/>
          </a:p>
        </p:txBody>
      </p:sp>
      <p:pic>
        <p:nvPicPr>
          <p:cNvPr id="4" name="图片 3" descr="能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3385" y="2548255"/>
            <a:ext cx="3923665" cy="41783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控制：</a:t>
            </a:r>
            <a:r>
              <a:rPr lang="zh-CN" altLang="en-US"/>
              <a:t>神经与通信系统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核心组成：运动控制器、RTOS实时操作系统、高性能总线通信、整机协同与安全控制。</a:t>
            </a:r>
            <a:endParaRPr lang="zh-CN" altLang="en-US"/>
          </a:p>
          <a:p>
            <a:r>
              <a:rPr lang="zh-CN" altLang="en-US"/>
              <a:t>核心能力：负责实时通信、协同控制和确保整体安全可靠。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 descr="控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240" y="2446655"/>
            <a:ext cx="4372610" cy="42894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系统协同工作，</a:t>
            </a:r>
            <a:r>
              <a:rPr lang="zh-CN" altLang="en-US"/>
              <a:t>达成工作闭环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感知环境（感知、</a:t>
            </a:r>
            <a:r>
              <a:rPr lang="zh-CN" altLang="en-US"/>
              <a:t>大脑）</a:t>
            </a:r>
            <a:r>
              <a:rPr lang="en-US" altLang="zh-CN"/>
              <a:t>      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             </a:t>
            </a:r>
            <a:r>
              <a:rPr lang="zh-CN" altLang="en-US"/>
              <a:t>理解决策</a:t>
            </a:r>
            <a:r>
              <a:rPr lang="en-US" altLang="zh-CN"/>
              <a:t> </a:t>
            </a:r>
            <a:r>
              <a:rPr lang="zh-CN" altLang="en-US"/>
              <a:t>（大脑）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                                 </a:t>
            </a:r>
            <a:r>
              <a:rPr lang="zh-CN" altLang="en-US"/>
              <a:t>运动控制（运动、</a:t>
            </a:r>
            <a:r>
              <a:rPr lang="zh-CN" altLang="en-US"/>
              <a:t>控制）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                                                        </a:t>
            </a:r>
            <a:r>
              <a:rPr lang="zh-CN" altLang="en-US"/>
              <a:t>执行</a:t>
            </a:r>
            <a:r>
              <a:rPr lang="zh-CN" altLang="en-US"/>
              <a:t>动作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                                                                               </a:t>
            </a:r>
            <a:r>
              <a:rPr lang="zh-CN" altLang="en-US"/>
              <a:t>反馈优化（</a:t>
            </a:r>
            <a:r>
              <a:rPr lang="zh-CN" altLang="en-US"/>
              <a:t>大脑）</a:t>
            </a:r>
            <a:endParaRPr lang="zh-CN" altLang="en-US"/>
          </a:p>
        </p:txBody>
      </p:sp>
      <p:cxnSp>
        <p:nvCxnSpPr>
          <p:cNvPr id="4" name="直接箭头连接符 3"/>
          <p:cNvCxnSpPr/>
          <p:nvPr/>
        </p:nvCxnSpPr>
        <p:spPr>
          <a:xfrm>
            <a:off x="2592070" y="1885315"/>
            <a:ext cx="165100" cy="2057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3394710" y="2419985"/>
            <a:ext cx="257175" cy="2159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5041265" y="2975610"/>
            <a:ext cx="421640" cy="1955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6687185" y="3459480"/>
            <a:ext cx="668655" cy="164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应用场景与</a:t>
            </a:r>
            <a:r>
              <a:rPr lang="zh-CN" altLang="en-US"/>
              <a:t>未来趋势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应用场景：目前已能覆盖工业制造（装配、搬运、质检）、物流仓储（分拣、配送）、商业服务（导览、接待、清洁）、家庭陪护（陪伴、照护、助理）以及危险作业（巡检、救援、代替）。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未来趋势：将朝着更拟人化的运动能力、更智能的自主决策、更灵巧的操作能力、更长久的续航能力方向演进。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commondata" val="eyJoZGlkIjoiMDU0MGUxZmM5YWQ3ODIxMDcxNDg3MzMxYTZkYWNlMG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995</Words>
  <Application>WPS 演示</Application>
  <PresentationFormat>宽屏</PresentationFormat>
  <Paragraphs>70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刘雨婷</cp:lastModifiedBy>
  <cp:revision>157</cp:revision>
  <dcterms:created xsi:type="dcterms:W3CDTF">2019-06-19T02:08:00Z</dcterms:created>
  <dcterms:modified xsi:type="dcterms:W3CDTF">2026-10-02T07:45:03Z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0BEC09D5668845D78FAAE8B0E45305BE_13</vt:lpwstr>
  </property>
</Properties>
</file>